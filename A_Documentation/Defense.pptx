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78" r:id="rId5"/>
    <p:sldId id="259" r:id="rId6"/>
    <p:sldId id="286" r:id="rId7"/>
    <p:sldId id="260" r:id="rId8"/>
    <p:sldId id="277" r:id="rId9"/>
    <p:sldId id="275" r:id="rId10"/>
    <p:sldId id="276" r:id="rId11"/>
    <p:sldId id="280" r:id="rId12"/>
    <p:sldId id="281" r:id="rId13"/>
    <p:sldId id="282" r:id="rId14"/>
    <p:sldId id="261" r:id="rId15"/>
    <p:sldId id="262" r:id="rId16"/>
    <p:sldId id="263" r:id="rId17"/>
    <p:sldId id="265" r:id="rId18"/>
    <p:sldId id="283" r:id="rId19"/>
    <p:sldId id="266" r:id="rId20"/>
    <p:sldId id="267" r:id="rId21"/>
    <p:sldId id="268" r:id="rId22"/>
    <p:sldId id="269" r:id="rId23"/>
    <p:sldId id="270" r:id="rId24"/>
    <p:sldId id="271" r:id="rId25"/>
    <p:sldId id="284" r:id="rId26"/>
    <p:sldId id="273" r:id="rId27"/>
    <p:sldId id="285" r:id="rId28"/>
    <p:sldId id="274" r:id="rId29"/>
    <p:sldId id="279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33347-8B99-4D12-8D18-1FE76537B012}" type="datetimeFigureOut">
              <a:rPr lang="fr-CH" smtClean="0"/>
              <a:t>06.09.2026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03382-5070-4CE6-A40F-9C8D959A2799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715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97A1-6E6F-2180-8BB1-E2719BA48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D172B-6A71-C146-077C-A685AC584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C133-C471-D423-2E0C-ED87E3C8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F845-7D1D-4BC7-9D07-41BA32719176}" type="datetime1">
              <a:rPr lang="fr-CH" smtClean="0"/>
              <a:t>06.09.2026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A1515-0DE7-92D4-FEAB-3B9410F2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4AC7-1921-E817-2EBB-D97FEE43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1593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71989-ED3F-6B39-4777-BEB6E8C7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BA919-5484-4863-6700-328738AC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6397-4118-2E39-4399-EDE2FE2B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96F7-2F60-4A9F-A586-72D490FA45D0}" type="datetime1">
              <a:rPr lang="fr-CH" smtClean="0"/>
              <a:t>06.09.2026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FC59B-9FFE-2A5F-0C74-D345574A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02EDF-EF51-3B2C-119C-AFAFC23A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5445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1EA0-C1B6-1720-A799-BA1272880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25794-BC3D-867B-909E-CBB0BDAC8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70935-260E-9C3B-0A75-AFF14886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3D519-08A9-43EA-E370-0EFD62D9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80460-C264-3A16-0D74-4AF02FC7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7027033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6EB34-0CF2-1A0C-B009-FB4503C8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AC426-F0B7-43FD-73D7-55C0E63CD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DDD91-56E1-EF47-5790-F5270FC5B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545B2-47DA-7C2B-6F40-8B344D926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B9A8C-10A0-11D6-B705-8B2DB870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D17-2709-6767-EB91-D24D92D2B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17225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6FDA-7174-5E86-DCCE-A670D3E4D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13595-D9E5-EBE2-F0DC-0EF1BF13E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F8F41-C6AB-C771-6653-916D9186D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0976E-3DB9-D82C-33FA-03A4FF7F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523E7-E6C3-8637-4F51-914A7E3ED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494D8-B672-8FFB-FB9F-41A12C8C0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F2003-2640-4A01-E629-73E366F3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E9B90-0CE5-4EED-2CAE-F81BD565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60776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3EC2-9641-04DE-2C1E-85A6616B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97638-9DE4-68CB-6965-1B481B53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89D38-BCA3-84BF-085C-18A8E76C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9ABB2-223B-C99F-AEBC-1B31DBF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090549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F4673-80F9-88C5-DBC3-15B75D32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E5DDE-9B2E-F30D-6207-72D2DE17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BF931-5BDE-F60A-B944-7AE9AD73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4636328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B233-F318-5C0E-F841-013359837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9042F-4989-4888-3A24-C1861A357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5DC54-DA9A-63B0-D4F3-5A70A7B2A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259B4-7B7B-0085-7C73-A845E2D9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D6EF9-5820-10BC-D798-C8CCEC83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0E150-816C-8421-E1EE-97B8C516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4858643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5728-1878-53D9-D960-C1B0774C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CA4E1-744C-D2EF-FFFA-0F5C0A95C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588D7-1F0B-7060-C0E9-D6381CE03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1EB4D-C399-4BB0-3C4F-EE43DC26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FA6B0-6801-DB79-1FED-669ADD16A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8AD56-2180-7E36-6EE8-AFBBD5C6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5438869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E9CF-8B4C-218B-3A01-128E477B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C4A1F-4B4C-B1B1-3693-3ACE8E3D4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EC5D6-EC04-D8F0-FC8D-806EAAB7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4FA7F-A686-2FB5-4525-2FC4D80D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FB267-E4B9-E67F-47C6-98AB7FBA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634661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F0260E-5F15-4301-6B04-C4FB61B37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A2C6E-883D-1352-1D49-1330AF0A9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C8BA1-7427-C543-6DCD-0D5CE0FF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1DF18-646D-8B0A-6A88-0B2D557F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79738-0A2E-F38F-9DAC-29395EED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62117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620DD9-DE91-72BB-7E5E-8F84D63B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62762-CB9D-210C-FDF6-3A076ED0B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641A-465F-474D-0D3D-15D4CA7C9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C4612-9EF6-4B04-A368-185401C2C328}" type="datetime1">
              <a:rPr lang="fr-CH" smtClean="0"/>
              <a:t>06.09.2026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FB3C-F293-6636-3CEC-E8B3ECC6D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713D6-692E-301D-24B5-6017B1888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10C65-3251-4B31-A496-D9D978F99BA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0403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0623-FEDE-E0CB-EF9E-563FE47F2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Space Grotesk" pitchFamily="2" charset="0"/>
                <a:cs typeface="Space Grotesk" pitchFamily="2" charset="0"/>
              </a:rPr>
              <a:t>Self-Balancing-Bot</a:t>
            </a:r>
            <a:endParaRPr lang="fr-CH" b="1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7A3FB-D85F-C1BA-7516-D3DF423FB6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Travail de Bachelor 2026</a:t>
            </a:r>
          </a:p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GE EEM</a:t>
            </a:r>
          </a:p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Ding Jérémy </a:t>
            </a:r>
            <a:endParaRPr lang="fr-CH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77DA1-9BB4-44BA-DF57-781301D4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>
                <a:latin typeface="Space Grotesk" pitchFamily="2" charset="0"/>
                <a:cs typeface="Space Grotesk" pitchFamily="2" charset="0"/>
              </a:rPr>
              <a:t>1</a:t>
            </a:fld>
            <a:endParaRPr lang="fr-CH"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59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FD1F-5096-488C-1A0C-9EE83D1B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74" y="280781"/>
            <a:ext cx="4977976" cy="1454051"/>
          </a:xfrm>
        </p:spPr>
        <p:txBody>
          <a:bodyPr>
            <a:normAutofit/>
          </a:bodyPr>
          <a:lstStyle/>
          <a:p>
            <a:r>
              <a:rPr lang="en-US" dirty="0" err="1">
                <a:latin typeface="Space Grotesk" pitchFamily="2" charset="0"/>
                <a:cs typeface="Space Grotesk" pitchFamily="2" charset="0"/>
              </a:rPr>
              <a:t>Sommaire</a:t>
            </a:r>
            <a:endParaRPr lang="fr-CH" sz="360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4B8D-740D-9311-6631-7380DD5AF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075901"/>
            <a:ext cx="4977578" cy="43407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4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Introduction</a:t>
            </a:r>
            <a:endParaRPr lang="fr-CH" sz="2200" dirty="0">
              <a:solidFill>
                <a:schemeClr val="accent4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  <a:p>
            <a:pPr marL="0" indent="0">
              <a:buNone/>
            </a:pPr>
            <a:r>
              <a:rPr lang="fr-CH" sz="2200" dirty="0">
                <a:solidFill>
                  <a:schemeClr val="accent4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Cahier des charges</a:t>
            </a:r>
          </a:p>
          <a:p>
            <a:pPr marL="0" indent="0">
              <a:buNone/>
            </a:pPr>
            <a:r>
              <a:rPr lang="fr-CH" sz="2200" dirty="0">
                <a:solidFill>
                  <a:schemeClr val="accent4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Principe physique</a:t>
            </a:r>
          </a:p>
          <a:p>
            <a:pPr marL="0" indent="0">
              <a:buNone/>
            </a:pPr>
            <a:r>
              <a:rPr lang="fr-CH" sz="2200" dirty="0">
                <a:solidFill>
                  <a:schemeClr val="accent4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Régulation</a:t>
            </a:r>
          </a:p>
          <a:p>
            <a:endParaRPr lang="fr-CH" sz="1700" dirty="0">
              <a:solidFill>
                <a:schemeClr val="tx2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C5107-2773-2A72-C61A-204E70BE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610C65-3251-4B31-A496-D9D978F99BA5}" type="slidenum">
              <a:rPr lang="fr-CH" smtClean="0">
                <a:latin typeface="Space Grotesk" pitchFamily="2" charset="0"/>
                <a:cs typeface="Space Grotesk" pitchFamily="2" charset="0"/>
              </a:rPr>
              <a:pPr>
                <a:spcAft>
                  <a:spcPts val="600"/>
                </a:spcAft>
              </a:pPr>
              <a:t>2</a:t>
            </a:fld>
            <a:endParaRPr lang="fr-CH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2801B8-1D58-00BA-ABDD-9E457664A133}"/>
              </a:ext>
            </a:extLst>
          </p:cNvPr>
          <p:cNvSpPr txBox="1">
            <a:spLocks/>
          </p:cNvSpPr>
          <p:nvPr/>
        </p:nvSpPr>
        <p:spPr>
          <a:xfrm>
            <a:off x="804274" y="2674374"/>
            <a:ext cx="650900" cy="754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 b="1" dirty="0">
                <a:solidFill>
                  <a:schemeClr val="accent4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1</a:t>
            </a:r>
            <a:endParaRPr lang="fr-CH" sz="4400" b="1" dirty="0">
              <a:solidFill>
                <a:schemeClr val="tx2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5C65A3-9702-E892-B6A2-A0F608881619}"/>
              </a:ext>
            </a:extLst>
          </p:cNvPr>
          <p:cNvSpPr txBox="1">
            <a:spLocks/>
          </p:cNvSpPr>
          <p:nvPr/>
        </p:nvSpPr>
        <p:spPr>
          <a:xfrm>
            <a:off x="8181054" y="2075901"/>
            <a:ext cx="4977578" cy="434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22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endParaRPr lang="en-US" sz="2200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Mesures</a:t>
            </a:r>
            <a:endParaRPr lang="en-US" sz="2200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Conclusion</a:t>
            </a:r>
          </a:p>
          <a:p>
            <a:endParaRPr lang="fr-CH" sz="1700" dirty="0">
              <a:solidFill>
                <a:schemeClr val="tx2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D2F5DD-F4E9-CBF6-7F37-F32E6804EF03}"/>
              </a:ext>
            </a:extLst>
          </p:cNvPr>
          <p:cNvSpPr txBox="1">
            <a:spLocks/>
          </p:cNvSpPr>
          <p:nvPr/>
        </p:nvSpPr>
        <p:spPr>
          <a:xfrm>
            <a:off x="4442959" y="2296770"/>
            <a:ext cx="4977578" cy="434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22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Mécanique</a:t>
            </a:r>
          </a:p>
          <a:p>
            <a:pPr marL="0" indent="0">
              <a:buNone/>
            </a:pPr>
            <a:r>
              <a:rPr lang="fr-CH" sz="22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Electronique</a:t>
            </a:r>
          </a:p>
          <a:p>
            <a:pPr marL="0" indent="0">
              <a:buNone/>
            </a:pPr>
            <a:r>
              <a:rPr lang="fr-CH" sz="22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Programmation</a:t>
            </a:r>
          </a:p>
          <a:p>
            <a:pPr marL="0" indent="0">
              <a:buNone/>
            </a:pPr>
            <a:r>
              <a:rPr lang="fr-CH" sz="22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Interface de contrôle</a:t>
            </a:r>
          </a:p>
          <a:p>
            <a:endParaRPr lang="fr-CH" sz="1700" dirty="0">
              <a:solidFill>
                <a:schemeClr val="tx2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8281E7-CA25-0211-16FE-6AD274191497}"/>
              </a:ext>
            </a:extLst>
          </p:cNvPr>
          <p:cNvSpPr txBox="1">
            <a:spLocks/>
          </p:cNvSpPr>
          <p:nvPr/>
        </p:nvSpPr>
        <p:spPr>
          <a:xfrm>
            <a:off x="4442959" y="2674374"/>
            <a:ext cx="650900" cy="7546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00" b="1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2</a:t>
            </a:r>
            <a:endParaRPr lang="fr-CH" sz="5000" b="1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C082AFD-AC2C-117F-D9D0-7950E02BF694}"/>
              </a:ext>
            </a:extLst>
          </p:cNvPr>
          <p:cNvSpPr txBox="1">
            <a:spLocks/>
          </p:cNvSpPr>
          <p:nvPr/>
        </p:nvSpPr>
        <p:spPr>
          <a:xfrm>
            <a:off x="8181054" y="2674374"/>
            <a:ext cx="650900" cy="7546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3</a:t>
            </a:r>
            <a:endParaRPr lang="fr-CH" sz="5000" b="1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57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5619-A7CF-CFBF-4566-13A23166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211389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Space Grotesk" pitchFamily="2" charset="0"/>
                <a:cs typeface="Space Grotesk" pitchFamily="2" charset="0"/>
              </a:rPr>
              <a:t>Introduction</a:t>
            </a:r>
            <a:endParaRPr lang="fr-CH" sz="3600" dirty="0">
              <a:solidFill>
                <a:srgbClr val="0070C0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CD75-9623-AF8A-54EC-4D54F5CF3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597689"/>
            <a:ext cx="9833548" cy="3905762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Application notions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théoriques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50000"/>
              </a:lnSpc>
            </a:pPr>
            <a:r>
              <a:rPr lang="fr-CH" dirty="0">
                <a:latin typeface="Space Grotesk" pitchFamily="2" charset="0"/>
                <a:cs typeface="Space Grotesk" pitchFamily="2" charset="0"/>
              </a:rPr>
              <a:t>Multiple domaines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Space Grotesk" pitchFamily="2" charset="0"/>
                <a:cs typeface="Space Grotesk" pitchFamily="2" charset="0"/>
              </a:rPr>
              <a:t>Projet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complet</a:t>
            </a:r>
            <a:endParaRPr lang="fr-CH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50000"/>
              </a:lnSpc>
            </a:pPr>
            <a:r>
              <a:rPr lang="fr-CH" dirty="0">
                <a:latin typeface="Space Grotesk" pitchFamily="2" charset="0"/>
                <a:cs typeface="Space Grotesk" pitchFamily="2" charset="0"/>
              </a:rPr>
              <a:t>Validation modèle théorique</a:t>
            </a:r>
          </a:p>
          <a:p>
            <a:endParaRPr lang="en-US" sz="1800" dirty="0">
              <a:solidFill>
                <a:schemeClr val="tx2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F8F49-AF01-F6FE-C0BD-428331C7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610C65-3251-4B31-A496-D9D978F99BA5}" type="slidenum">
              <a:rPr lang="fr-CH" smtClean="0">
                <a:latin typeface="Space Grotesk" pitchFamily="2" charset="0"/>
                <a:cs typeface="Space Grotesk" pitchFamily="2" charset="0"/>
              </a:rPr>
              <a:pPr>
                <a:spcAft>
                  <a:spcPts val="600"/>
                </a:spcAft>
              </a:pPr>
              <a:t>3</a:t>
            </a:fld>
            <a:endParaRPr lang="fr-CH"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3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2FAF5-012E-F935-A709-8A7ED165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8DD07-1DA7-EE18-EBBC-618E32B9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36525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Space Grotesk" pitchFamily="2" charset="0"/>
                <a:cs typeface="Space Grotesk" pitchFamily="2" charset="0"/>
              </a:rPr>
              <a:t>Cahier des charges</a:t>
            </a:r>
            <a:endParaRPr lang="fr-CH" dirty="0">
              <a:solidFill>
                <a:srgbClr val="0070C0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DB4F-8D17-ACD5-93E3-098636153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716" y="1661652"/>
            <a:ext cx="9833548" cy="4395019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Conception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Space Grotesk" pitchFamily="2" charset="0"/>
                <a:cs typeface="Space Grotesk" pitchFamily="2" charset="0"/>
              </a:rPr>
              <a:t>Analyse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Théorique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latin typeface="Space Grotesk" pitchFamily="2" charset="0"/>
                <a:cs typeface="Space Grotesk" pitchFamily="2" charset="0"/>
              </a:rPr>
              <a:t>Réalisation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latin typeface="Space Grotesk" pitchFamily="2" charset="0"/>
                <a:cs typeface="Space Grotesk" pitchFamily="2" charset="0"/>
              </a:rPr>
              <a:t>Programmation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30’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d’autonomie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Hauteur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maximale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de 30 cm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3C72A-B4E7-CE26-5397-9A9C5B6F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610C65-3251-4B31-A496-D9D978F99BA5}" type="slidenum">
              <a:rPr lang="fr-CH" smtClean="0"/>
              <a:pPr>
                <a:spcAft>
                  <a:spcPts val="600"/>
                </a:spcAft>
              </a:pPr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4211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B377-43B8-B6EB-408F-9848A5CC5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12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Space Grotesk" pitchFamily="2" charset="0"/>
                <a:cs typeface="Space Grotesk" pitchFamily="2" charset="0"/>
              </a:rPr>
              <a:t>Principe physique</a:t>
            </a:r>
            <a:endParaRPr lang="fr-CH" dirty="0">
              <a:solidFill>
                <a:srgbClr val="0070C0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1C101-5C79-3869-87BC-62878B9A9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Pendule inverse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Space Grotesk" pitchFamily="2" charset="0"/>
                <a:cs typeface="Space Grotesk" pitchFamily="2" charset="0"/>
              </a:rPr>
              <a:t>Naturellement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instable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Equations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différentielles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ETH</a:t>
            </a:r>
          </a:p>
          <a:p>
            <a:endParaRPr lang="en-US" dirty="0"/>
          </a:p>
          <a:p>
            <a:endParaRPr lang="fr-CH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33CF91-D0B9-A92A-8170-373418F2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5</a:t>
            </a:fld>
            <a:endParaRPr lang="fr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2C888-D977-FABA-5E34-A0B20CEA5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627" y="606629"/>
            <a:ext cx="4095659" cy="3218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C46F58-B2E1-A418-8E6C-0C4F7F3E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866" y="4642362"/>
            <a:ext cx="7738906" cy="153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83301-D571-EE22-003A-C2E8E3AF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E6E9-4F02-FD89-8781-222B3E87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361" y="325796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  <a:latin typeface="Space Grotesk" pitchFamily="2" charset="0"/>
                <a:cs typeface="Space Grotesk" pitchFamily="2" charset="0"/>
              </a:rPr>
              <a:t>Régulation</a:t>
            </a:r>
            <a:endParaRPr lang="fr-CH" dirty="0">
              <a:solidFill>
                <a:srgbClr val="0070C0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98DF20-D17A-D9AE-B991-43573F5D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6</a:t>
            </a:fld>
            <a:endParaRPr lang="fr-CH"/>
          </a:p>
        </p:txBody>
      </p:sp>
      <p:pic>
        <p:nvPicPr>
          <p:cNvPr id="6" name="Content Placeholder 20">
            <a:extLst>
              <a:ext uri="{FF2B5EF4-FFF2-40B4-BE49-F238E27FC236}">
                <a16:creationId xmlns:a16="http://schemas.microsoft.com/office/drawing/2014/main" id="{A2270F9A-C5DF-8B1D-806C-5CC4E7B1A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93" r="69998" b="34002"/>
          <a:stretch>
            <a:fillRect/>
          </a:stretch>
        </p:blipFill>
        <p:spPr>
          <a:xfrm>
            <a:off x="752370" y="2170444"/>
            <a:ext cx="10901583" cy="275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1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F33C-B944-E8A4-1D9D-37EC88CE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Mécanique</a:t>
            </a:r>
            <a:br>
              <a:rPr lang="en-US" dirty="0"/>
            </a:br>
            <a:endParaRPr lang="fr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8CC26-517E-1F7D-89B4-922117E12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Fusion360</a:t>
            </a:r>
          </a:p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FDM, CNC</a:t>
            </a:r>
            <a:br>
              <a:rPr lang="en-US" dirty="0">
                <a:latin typeface="Space Grotesk" pitchFamily="2" charset="0"/>
                <a:cs typeface="Space Grotesk" pitchFamily="2" charset="0"/>
              </a:rPr>
            </a:br>
            <a:r>
              <a:rPr lang="en-US" dirty="0">
                <a:latin typeface="Space Grotesk" pitchFamily="2" charset="0"/>
                <a:cs typeface="Space Grotesk" pitchFamily="2" charset="0"/>
              </a:rPr>
              <a:t>Laser</a:t>
            </a:r>
          </a:p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PLA, TPU</a:t>
            </a:r>
          </a:p>
          <a:p>
            <a:endParaRPr lang="fr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75920-1812-EDAB-1716-BEDE1064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7</a:t>
            </a:fld>
            <a:endParaRPr lang="fr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90013-D541-70A3-25F4-FC9C69BD3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922" y="1690688"/>
            <a:ext cx="4906854" cy="33858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4F0866-873A-8351-C540-E84E08134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475" y="1468771"/>
            <a:ext cx="2872249" cy="382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4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C33B-306B-1A6B-15B8-7D44F9A9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E096-46FB-B176-8EF5-CA992198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Electronique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Schéma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 bloc</a:t>
            </a:r>
            <a:endParaRPr lang="fr-CH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7BA885B-097C-057E-7B77-970BD416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8</a:t>
            </a:fld>
            <a:endParaRPr lang="fr-C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56F785-31FB-C910-C378-5531CD492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58" y="1690688"/>
            <a:ext cx="7882003" cy="451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8D77-9004-1BFC-9BDB-CF2CCD23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C280-D9EA-FEE9-D99E-30DBFE931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Electronique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PCB</a:t>
            </a:r>
            <a:endParaRPr lang="fr-CH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A43-A085-DAFC-8B0D-85B0569A3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>
                <a:latin typeface="Space Grotesk" pitchFamily="2" charset="0"/>
                <a:cs typeface="Space Grotesk" pitchFamily="2" charset="0"/>
              </a:rPr>
              <a:t>KiCad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9.0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JLCPCB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4 Couches</a:t>
            </a:r>
          </a:p>
          <a:p>
            <a:endParaRPr lang="en-US" dirty="0"/>
          </a:p>
          <a:p>
            <a:endParaRPr lang="fr-CH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D8FE4-DB44-2FA1-82E0-06071149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9</a:t>
            </a:fld>
            <a:endParaRPr lang="fr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6FA80-D5BD-B930-B1A4-144F0B21B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510" y="1476170"/>
            <a:ext cx="5825782" cy="333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39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537BC-BC3E-45D2-BB7B-B09432B2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462E-3486-E98C-EE45-15606C80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09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Programmation</a:t>
            </a:r>
            <a:br>
              <a:rPr lang="en-US" dirty="0">
                <a:latin typeface="Space Grotesk" pitchFamily="2" charset="0"/>
                <a:cs typeface="Space Grotesk" pitchFamily="2" charset="0"/>
              </a:rPr>
            </a:br>
            <a:endParaRPr lang="fr-CH" sz="280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32A7E9-0886-316B-3C2E-542C691E6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>
                <a:latin typeface="Space Grotesk" pitchFamily="2" charset="0"/>
                <a:cs typeface="Space Grotesk" pitchFamily="2" charset="0"/>
              </a:rPr>
              <a:t>Librairie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TMC2226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main.cpp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pace Grotesk" pitchFamily="2" charset="0"/>
                <a:cs typeface="Space Grotesk" pitchFamily="2" charset="0"/>
              </a:rPr>
              <a:t>+ 1000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lignes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endParaRPr lang="fr-CH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3898196-9556-E704-D3ED-7DB0FDAA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10</a:t>
            </a:fld>
            <a:endParaRPr lang="fr-CH"/>
          </a:p>
        </p:txBody>
      </p:sp>
      <p:pic>
        <p:nvPicPr>
          <p:cNvPr id="4" name="Picture 3" descr="File:PlatformIO logo.svg - Wikimedia Commons">
            <a:extLst>
              <a:ext uri="{FF2B5EF4-FFF2-40B4-BE49-F238E27FC236}">
                <a16:creationId xmlns:a16="http://schemas.microsoft.com/office/drawing/2014/main" id="{40C56044-71E4-B50C-B743-19AAAC143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597" y="1015877"/>
            <a:ext cx="2197664" cy="2197664"/>
          </a:xfrm>
          <a:prstGeom prst="rect">
            <a:avLst/>
          </a:prstGeom>
        </p:spPr>
      </p:pic>
      <p:pic>
        <p:nvPicPr>
          <p:cNvPr id="7" name="Picture 6" descr="Visual Studio Code Icon SVG Vector &amp; PNG Free Download | UXWing">
            <a:extLst>
              <a:ext uri="{FF2B5EF4-FFF2-40B4-BE49-F238E27FC236}">
                <a16:creationId xmlns:a16="http://schemas.microsoft.com/office/drawing/2014/main" id="{01A9FEF9-1384-CE0F-F6ED-2B57927E3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143" y="944742"/>
            <a:ext cx="2032205" cy="2032205"/>
          </a:xfrm>
          <a:prstGeom prst="rect">
            <a:avLst/>
          </a:prstGeom>
        </p:spPr>
      </p:pic>
      <p:pic>
        <p:nvPicPr>
          <p:cNvPr id="10" name="Picture 9" descr="Download C++ Logo in SVG Vector or PNG File Format - Logo.wine">
            <a:extLst>
              <a:ext uri="{FF2B5EF4-FFF2-40B4-BE49-F238E27FC236}">
                <a16:creationId xmlns:a16="http://schemas.microsoft.com/office/drawing/2014/main" id="{939885FB-B1AB-754B-0176-43C846986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427" y="3392928"/>
            <a:ext cx="3944556" cy="2918972"/>
          </a:xfrm>
          <a:prstGeom prst="rect">
            <a:avLst/>
          </a:prstGeom>
        </p:spPr>
      </p:pic>
      <p:pic>
        <p:nvPicPr>
          <p:cNvPr id="11" name="Picture 10" descr="Getting Started With ESP-IDF | Set Up Espressif IDE – RoboticWorx">
            <a:extLst>
              <a:ext uri="{FF2B5EF4-FFF2-40B4-BE49-F238E27FC236}">
                <a16:creationId xmlns:a16="http://schemas.microsoft.com/office/drawing/2014/main" id="{E4E14F80-7C47-AE01-0F2F-F5C9E4A77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351" y="3799128"/>
            <a:ext cx="3306081" cy="237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79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E5AF-A051-A3BB-D1EB-AF637B2E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FCC7-14E8-A500-D55D-8A7ED5AD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Programmation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Ordinogramme</a:t>
            </a:r>
            <a:endParaRPr lang="fr-CH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67B435-00D8-6670-945D-D9AC2D0AB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15" b="55346"/>
          <a:stretch>
            <a:fillRect/>
          </a:stretch>
        </p:blipFill>
        <p:spPr>
          <a:xfrm>
            <a:off x="838200" y="1974312"/>
            <a:ext cx="3694471" cy="451856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CABB0-9CBE-52A1-F856-8E011099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11</a:t>
            </a:fld>
            <a:endParaRPr lang="fr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7BF76-6855-7436-0477-8C4423A68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63"/>
          <a:stretch>
            <a:fillRect/>
          </a:stretch>
        </p:blipFill>
        <p:spPr>
          <a:xfrm>
            <a:off x="5677631" y="1007048"/>
            <a:ext cx="5782177" cy="548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0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6B33-0089-A384-E970-7B554C69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165F-AC98-F90F-7E85-63F61EE7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8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Programmation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Commandes</a:t>
            </a:r>
            <a:endParaRPr lang="fr-CH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F9ABC-AC9F-6965-FEDF-2645980E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12</a:t>
            </a:fld>
            <a:endParaRPr lang="fr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70563F-ED58-9621-38A7-E2AF25F5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364" y="2027877"/>
            <a:ext cx="7193272" cy="432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41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2943C-F6AA-C73A-C8AD-2F7717DD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B4D7-9ADD-551B-835D-64F276DE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Programmation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Commandes</a:t>
            </a:r>
            <a:endParaRPr lang="fr-CH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46A6A1-FC6A-5D69-C681-FCD86776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13</a:t>
            </a:fld>
            <a:endParaRPr lang="fr-C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BD409-5C34-8EA6-2300-6E49DFF47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061" y="1996061"/>
            <a:ext cx="8735878" cy="43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26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A9D6-B78B-E020-C6D4-871170AD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Interface de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contrôle</a:t>
            </a:r>
            <a:endParaRPr lang="fr-CH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F6C4543-7E9C-BF6E-4445-0C46020D5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49617">
            <a:off x="5984651" y="794837"/>
            <a:ext cx="5480790" cy="56268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1269C5-0E83-02AD-B5F0-201C8519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14</a:t>
            </a:fld>
            <a:endParaRPr lang="fr-CH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9205BE-EAC9-B818-9A73-12844E7DAB1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Progressive Web App</a:t>
            </a:r>
          </a:p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JS, HTML, CSS</a:t>
            </a:r>
          </a:p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WebSocket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912721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499C2-8E27-D3B3-A10A-27096C15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AD3F-E12F-4BAA-FECA-2CE872CA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Interface de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contrôle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Joysticks</a:t>
            </a:r>
            <a:endParaRPr lang="fr-CH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F044E4-20C1-ECF1-255A-7A69E0A86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998" y="1825625"/>
            <a:ext cx="10408003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3D9BD-168B-7944-1BAC-820D2613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15</a:t>
            </a:fld>
            <a:endParaRPr lang="fr-CH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6AFDF58-7EB5-0F79-FA83-7921FF8AF99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518891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62F41-357F-C706-7459-1C6AF03D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17C9-4D2F-CAEC-CCB4-31BFE42E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Interface de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contrôle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Réglages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 PID</a:t>
            </a:r>
            <a:endParaRPr lang="fr-CH" dirty="0">
              <a:solidFill>
                <a:schemeClr val="accent2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47582E-0C38-503B-8ACA-3A7A50985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93" y="1825625"/>
            <a:ext cx="10219213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D2C85-6BBF-CBFD-4987-185F0497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16</a:t>
            </a:fld>
            <a:endParaRPr lang="fr-CH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A736BA0-E17C-D179-6876-0EEE9B13B8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794083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273D-A1BF-7B7A-7805-692E4C80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37C2-15BF-35BE-8148-8931C2B0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Hypothèses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21B8A-82C9-B722-6065-B2C7A7CBA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Couple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continu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r>
              <a:rPr lang="en-US" dirty="0" err="1">
                <a:latin typeface="Space Grotesk" pitchFamily="2" charset="0"/>
                <a:cs typeface="Space Grotesk" pitchFamily="2" charset="0"/>
              </a:rPr>
              <a:t>Aucun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frottement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r>
              <a:rPr lang="en-US" dirty="0" err="1">
                <a:latin typeface="Space Grotesk" pitchFamily="2" charset="0"/>
                <a:cs typeface="Space Grotesk" pitchFamily="2" charset="0"/>
              </a:rPr>
              <a:t>Rigidité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parfaite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du chassis</a:t>
            </a:r>
          </a:p>
          <a:p>
            <a:endParaRPr lang="fr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09A62C-FBAA-6841-6112-6FD0E1A4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1298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30EFB-3778-9A7A-46A1-0F677FDF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53F5-2BE2-6836-8E5A-FA28D4E2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Complet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17654B95-455E-3149-02C7-8CEE3BD1B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9" t="21846" r="769" b="23637"/>
          <a:stretch>
            <a:fillRect/>
          </a:stretch>
        </p:blipFill>
        <p:spPr>
          <a:xfrm>
            <a:off x="838200" y="1594418"/>
            <a:ext cx="10335799" cy="435409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7C0E79-B220-3275-BC90-1A984B1B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4793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0B99-DAF1-DAAE-3D6D-6E5473EC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ED04-4F37-7A71-0A0C-4B081223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Consigne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5CC0C-1A93-347B-CF6A-DC38B5C81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88E6C5-D0BE-A894-E8E4-D616EA26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19</a:t>
            </a:fld>
            <a:endParaRPr lang="fr-CH"/>
          </a:p>
        </p:txBody>
      </p:sp>
      <p:pic>
        <p:nvPicPr>
          <p:cNvPr id="5" name="Content Placeholder 20">
            <a:extLst>
              <a:ext uri="{FF2B5EF4-FFF2-40B4-BE49-F238E27FC236}">
                <a16:creationId xmlns:a16="http://schemas.microsoft.com/office/drawing/2014/main" id="{5610D220-F5ED-E2A4-B26D-0A8307EE6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92" r="62379" b="30213"/>
          <a:stretch>
            <a:fillRect/>
          </a:stretch>
        </p:blipFill>
        <p:spPr>
          <a:xfrm>
            <a:off x="838200" y="1825625"/>
            <a:ext cx="10377668" cy="400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66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1584-8060-1714-F114-D3EA1B66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B395-431C-F027-D791-EB7F25B1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Complet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A888E36-0815-D86C-E8F6-037BCE613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23" b="22785"/>
          <a:stretch>
            <a:fillRect/>
          </a:stretch>
        </p:blipFill>
        <p:spPr>
          <a:xfrm>
            <a:off x="488016" y="1809135"/>
            <a:ext cx="11320526" cy="45655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FCE463-8F36-2808-D423-D1678E3A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40295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E488-83B1-4403-2B9A-AB651C04C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AEE6-00AF-4E15-FADA-D45ADCE8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Couple + Système à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régler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E7A74C3C-8038-F413-2F2D-9C02D890F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5" t="44955" r="18704" b="29996"/>
          <a:stretch>
            <a:fillRect/>
          </a:stretch>
        </p:blipFill>
        <p:spPr>
          <a:xfrm>
            <a:off x="727278" y="2199190"/>
            <a:ext cx="10247452" cy="410318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6D9484-AE07-F012-7C1E-C0D8F6D3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84217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68E2-2246-F399-5A2B-E5655273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D000-A601-ABCE-709B-9B55F76C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90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Complet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E3B26E-DEAA-113A-6F4F-622AF3C9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22</a:t>
            </a:fld>
            <a:endParaRPr lang="fr-CH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C6287D-A4FB-94FD-B1C1-4FC28878E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6" name="Content Placeholder 20">
            <a:extLst>
              <a:ext uri="{FF2B5EF4-FFF2-40B4-BE49-F238E27FC236}">
                <a16:creationId xmlns:a16="http://schemas.microsoft.com/office/drawing/2014/main" id="{6764A9F1-9EE2-DF55-79B1-E027F5F5D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23" b="22785"/>
          <a:stretch>
            <a:fillRect/>
          </a:stretch>
        </p:blipFill>
        <p:spPr>
          <a:xfrm>
            <a:off x="488016" y="1809135"/>
            <a:ext cx="11320526" cy="456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4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2A36C-3847-B27F-C08C-2624BC7D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E420-9E3C-1219-2F48-244ABE4C3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Modélisation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 IMU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CBA0350A-CF81-96D9-08F0-2B9189F9D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47" t="45215" r="-298" b="26527"/>
          <a:stretch>
            <a:fillRect/>
          </a:stretch>
        </p:blipFill>
        <p:spPr>
          <a:xfrm>
            <a:off x="1365811" y="1731319"/>
            <a:ext cx="8565267" cy="47527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2E304B-AF37-EBC3-848C-229EFCED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93186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AC1C-9820-7EDA-8F72-09399B47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992B5-81B1-E85A-BB6B-C88E734C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Simulation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Modélisation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 IMU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053EA7-6462-BB9E-BEFC-B8C805BC5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6843"/>
            <a:ext cx="10515600" cy="28889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3AD50D-07E5-0262-3ED9-62354D0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0533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C875-E332-E01F-EA32-BC39F53EC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383F-72E1-8883-9171-791B54D42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Mesures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Maintient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E553C7-B2CE-1850-DA0F-D2452235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25</a:t>
            </a:fld>
            <a:endParaRPr lang="fr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802EA-5A42-7474-76E7-50F29CA26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01" y="1699464"/>
            <a:ext cx="5520611" cy="4493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C2A993-EE5B-31B6-35D1-E81E3DA16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689" y="1749292"/>
            <a:ext cx="5344885" cy="439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31423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9E02-EF4D-3A9C-1E73-5A5DE05F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AAAC-0D39-7AC4-FD49-12C46EFE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Mesures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Types de roues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411B63-8B7E-8656-A2A7-1C31B5730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3213" y="1883499"/>
            <a:ext cx="5282743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8AD4E8-8532-1E8C-D19C-9A87276A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26</a:t>
            </a:fld>
            <a:endParaRPr lang="fr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95DED7-A2C5-20E5-07ED-B60502F01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19" y="1883499"/>
            <a:ext cx="5398874" cy="444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2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EFA39-89F4-F46E-D725-0465D6179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7C41-E14A-6BE4-37F6-4F9E7F292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Mesures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Valeurs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limites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351527-4151-A843-25FD-C11D02CC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/>
              <a:t>27</a:t>
            </a:fld>
            <a:endParaRPr lang="fr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6A479-38E1-2682-C1B2-4337DB005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23" y="1948513"/>
            <a:ext cx="5098757" cy="4158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48511-E5E5-A54A-3787-F1B084430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981" y="2078982"/>
            <a:ext cx="4902814" cy="39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08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050D-A755-FBD9-1F48-9225CAE5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E63C-6CFD-D47C-C605-45A38032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Conclusion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Résultats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justifiés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D2B1E-DB5E-893C-3106-33ACB9D66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6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Vitesse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maximale</a:t>
            </a:r>
            <a:endParaRPr lang="en-US" dirty="0">
              <a:latin typeface="Space Grotesk" pitchFamily="2" charset="0"/>
              <a:cs typeface="Space Grotesk" pitchFamily="2" charset="0"/>
            </a:endParaRPr>
          </a:p>
          <a:p>
            <a:r>
              <a:rPr lang="fr-CH" dirty="0">
                <a:latin typeface="Space Grotesk" pitchFamily="2" charset="0"/>
                <a:cs typeface="Space Grotesk" pitchFamily="2" charset="0"/>
              </a:rPr>
              <a:t>Roues </a:t>
            </a:r>
            <a:r>
              <a:rPr lang="fr-CH" b="0" dirty="0">
                <a:latin typeface="Space Grotesk" pitchFamily="2" charset="0"/>
                <a:cs typeface="Space Grotesk" pitchFamily="2" charset="0"/>
              </a:rPr>
              <a:t>PLA, ALU</a:t>
            </a:r>
          </a:p>
          <a:p>
            <a:r>
              <a:rPr lang="fr-CH">
                <a:latin typeface="Space Grotesk" pitchFamily="2" charset="0"/>
                <a:cs typeface="Space Grotesk" pitchFamily="2" charset="0"/>
              </a:rPr>
              <a:t>Valeurs limites</a:t>
            </a:r>
            <a:endParaRPr lang="fr-CH" b="0" dirty="0">
              <a:latin typeface="Space Grotesk" pitchFamily="2" charset="0"/>
              <a:cs typeface="Space Grotesk" pitchFamily="2" charset="0"/>
            </a:endParaRPr>
          </a:p>
          <a:p>
            <a:r>
              <a:rPr lang="en-US" i="1" dirty="0">
                <a:latin typeface="Space Grotesk" pitchFamily="2" charset="0"/>
                <a:cs typeface="Space Grotesk" pitchFamily="2" charset="0"/>
              </a:rPr>
              <a:t>Chute libre</a:t>
            </a:r>
            <a:endParaRPr lang="fr-CH" b="0" dirty="0">
              <a:latin typeface="Space Grotesk" pitchFamily="2" charset="0"/>
              <a:cs typeface="Space Grotesk" pitchFamily="2" charset="0"/>
            </a:endParaRPr>
          </a:p>
          <a:p>
            <a:r>
              <a:rPr lang="fr-CH" i="1" dirty="0">
                <a:latin typeface="Space Grotesk" pitchFamily="2" charset="0"/>
                <a:cs typeface="Space Grotesk" pitchFamily="2" charset="0"/>
              </a:rPr>
              <a:t>Impact de l’IMU</a:t>
            </a:r>
            <a:endParaRPr lang="fr-CH" b="0" i="1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0AB77-5290-243E-0602-EB106E3A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>
                <a:latin typeface="Space Grotesk" pitchFamily="2" charset="0"/>
                <a:cs typeface="Space Grotesk" pitchFamily="2" charset="0"/>
              </a:rPr>
              <a:t>28</a:t>
            </a:fld>
            <a:endParaRPr lang="fr-CH"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62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E9DC-8F36-E791-C1C9-3965504D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3917-FB7D-6DA7-7A24-333AE473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9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Conclusion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Améliorations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Space Grotesk" pitchFamily="2" charset="0"/>
                <a:cs typeface="Space Grotesk" pitchFamily="2" charset="0"/>
              </a:rPr>
              <a:t> possibles</a:t>
            </a:r>
            <a:endParaRPr lang="fr-CH" dirty="0">
              <a:solidFill>
                <a:schemeClr val="accent6">
                  <a:lumMod val="75000"/>
                </a:schemeClr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C2BAB-3704-A811-5E64-25C4E413A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6" y="1825625"/>
            <a:ext cx="10515600" cy="4351338"/>
          </a:xfrm>
        </p:spPr>
        <p:txBody>
          <a:bodyPr/>
          <a:lstStyle/>
          <a:p>
            <a:r>
              <a:rPr lang="en-US" dirty="0" err="1">
                <a:latin typeface="Space Grotesk" pitchFamily="2" charset="0"/>
                <a:cs typeface="Space Grotesk" pitchFamily="2" charset="0"/>
              </a:rPr>
              <a:t>Déplacement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autonome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(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capteurs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)</a:t>
            </a:r>
          </a:p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Couple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adaptif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des </a:t>
            </a:r>
            <a:r>
              <a:rPr lang="en-US" dirty="0" err="1">
                <a:latin typeface="Space Grotesk" pitchFamily="2" charset="0"/>
                <a:cs typeface="Space Grotesk" pitchFamily="2" charset="0"/>
              </a:rPr>
              <a:t>moteurs</a:t>
            </a:r>
            <a:r>
              <a:rPr lang="en-US" dirty="0">
                <a:latin typeface="Space Grotesk" pitchFamily="2" charset="0"/>
                <a:cs typeface="Space Grotesk" pitchFamily="2" charset="0"/>
              </a:rPr>
              <a:t> pas à pas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E8CD0-D897-0F37-CE6F-C365E8A3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10C65-3251-4B31-A496-D9D978F99BA5}" type="slidenum">
              <a:rPr lang="fr-CH" smtClean="0">
                <a:latin typeface="Space Grotesk" pitchFamily="2" charset="0"/>
                <a:cs typeface="Space Grotesk" pitchFamily="2" charset="0"/>
              </a:rPr>
              <a:t>29</a:t>
            </a:fld>
            <a:endParaRPr lang="fr-CH"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7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243</Words>
  <Application>Microsoft Office PowerPoint</Application>
  <PresentationFormat>Widescreen</PresentationFormat>
  <Paragraphs>112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Space Grotesk</vt:lpstr>
      <vt:lpstr>Office Theme</vt:lpstr>
      <vt:lpstr>Self-Balancing-Bot</vt:lpstr>
      <vt:lpstr>Sommaire</vt:lpstr>
      <vt:lpstr>Introduction</vt:lpstr>
      <vt:lpstr>Cahier des charges</vt:lpstr>
      <vt:lpstr>Principe physique</vt:lpstr>
      <vt:lpstr>Régulation</vt:lpstr>
      <vt:lpstr>Mécanique </vt:lpstr>
      <vt:lpstr>Electronique Schéma bloc</vt:lpstr>
      <vt:lpstr>Electronique PCB</vt:lpstr>
      <vt:lpstr>Programmation </vt:lpstr>
      <vt:lpstr>Programmation Ordinogramme</vt:lpstr>
      <vt:lpstr>Programmation Commandes</vt:lpstr>
      <vt:lpstr>Programmation Commandes</vt:lpstr>
      <vt:lpstr>Interface de contrôle</vt:lpstr>
      <vt:lpstr>Interface de contrôle Joysticks</vt:lpstr>
      <vt:lpstr>Interface de contrôle Réglages PID</vt:lpstr>
      <vt:lpstr>Simulation Hypothèses</vt:lpstr>
      <vt:lpstr>Simulation Complet</vt:lpstr>
      <vt:lpstr>Simulation Consigne</vt:lpstr>
      <vt:lpstr>Simulation Complet</vt:lpstr>
      <vt:lpstr>Simulation Couple + Système à régler</vt:lpstr>
      <vt:lpstr>Simulation Complet</vt:lpstr>
      <vt:lpstr>Simulation Modélisation IMU</vt:lpstr>
      <vt:lpstr>Simulation Modélisation IMU</vt:lpstr>
      <vt:lpstr>Mesures Maintient</vt:lpstr>
      <vt:lpstr>Mesures Types de roues</vt:lpstr>
      <vt:lpstr>Mesures Valeurs limites</vt:lpstr>
      <vt:lpstr>Conclusion Résultats justifiés</vt:lpstr>
      <vt:lpstr>Conclusion Améliorations possibles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Jérémy Ding</dc:creator>
  <cp:lastModifiedBy>Jérémy Ding</cp:lastModifiedBy>
  <cp:revision>24</cp:revision>
  <dcterms:created xsi:type="dcterms:W3CDTF">2026-08-28T08:23:13Z</dcterms:created>
  <dcterms:modified xsi:type="dcterms:W3CDTF">2026-09-06T19:39:59Z</dcterms:modified>
</cp:coreProperties>
</file>